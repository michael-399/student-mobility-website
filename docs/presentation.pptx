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1488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8C1D2C"/>
                </a:solidFill>
                <a:latin typeface="Calibri"/>
              </a:rPr>
              <a:t>DATABASES MOD. 2 — PROJECT A.Y. 2025/2026</a:t>
            </a:r>
          </a:p>
          <a:p>
            <a:pPr>
              <a:spcAft>
                <a:spcPts val="0"/>
              </a:spcAft>
            </a:pPr>
            <a:r>
              <a:rPr sz="4400" b="1">
                <a:solidFill>
                  <a:srgbClr val="111827"/>
                </a:solidFill>
                <a:latin typeface="Calibri"/>
              </a:rPr>
              <a:t>Overseas Mobility</a:t>
            </a:r>
          </a:p>
          <a:p>
            <a:pPr>
              <a:spcAft>
                <a:spcPts val="1400"/>
              </a:spcAft>
            </a:pPr>
            <a:r>
              <a:rPr sz="4400" b="1">
                <a:solidFill>
                  <a:srgbClr val="111827"/>
                </a:solidFill>
                <a:latin typeface="Calibri"/>
              </a:rPr>
              <a:t>Management Platform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B5563"/>
                </a:solidFill>
                <a:latin typeface="Calibri"/>
              </a:rPr>
              <a:t>Flask · SQLAlchemy · PostgreSQL · Angular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4B5563"/>
                </a:solidFill>
                <a:latin typeface="Calibri"/>
              </a:rPr>
              <a:t>Daren Akpinar · Umar Akhmaev · Mihail Skorenko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C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8C1D2C"/>
                </a:solidFill>
                <a:latin typeface="Calibri"/>
              </a:rPr>
              <a:t>THE BRIEF</a:t>
            </a:r>
          </a:p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  <a:latin typeface="Calibri"/>
              </a:rPr>
              <a:t>What the platform manages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372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11827"/>
                </a:solidFill>
                <a:latin typeface="Calibri"/>
              </a:rPr>
              <a:t>One record, three phases</a:t>
            </a:r>
          </a:p>
          <a:p>
            <a:pPr>
              <a:spcAft>
                <a:spcPts val="1300"/>
              </a:spcAft>
            </a:pPr>
            <a:r>
              <a:rPr sz="1450" b="0">
                <a:solidFill>
                  <a:srgbClr val="4B5563"/>
                </a:solidFill>
                <a:latin typeface="Calibri"/>
              </a:rPr>
              <a:t>A mobility application carries the whole process: before departure, during the mobility, after the return.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11827"/>
                </a:solidFill>
                <a:latin typeface="Calibri"/>
              </a:rPr>
              <a:t>Three kinds of user, different reach</a:t>
            </a:r>
          </a:p>
          <a:p>
            <a:pPr>
              <a:spcAft>
                <a:spcPts val="1300"/>
              </a:spcAft>
            </a:pPr>
            <a:r>
              <a:rPr sz="1450" b="0">
                <a:solidFill>
                  <a:srgbClr val="4B5563"/>
                </a:solidFill>
                <a:latin typeface="Calibri"/>
              </a:rPr>
              <a:t>The student prepares it, the academic coordinator decides on its academic content, the Overseas office opens and closes it.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11827"/>
                </a:solidFill>
                <a:latin typeface="Calibri"/>
              </a:rPr>
              <a:t>Documents drive the workflow</a:t>
            </a:r>
          </a:p>
          <a:p>
            <a:pPr>
              <a:spcAft>
                <a:spcPts val="1300"/>
              </a:spcAft>
            </a:pPr>
            <a:r>
              <a:rPr sz="1450" b="0">
                <a:solidFill>
                  <a:srgbClr val="4B5563"/>
                </a:solidFill>
                <a:latin typeface="Calibri"/>
              </a:rPr>
              <a:t>The Learning Agreement and the Transcript of Records are uploaded files; each decision on them moves the application forward.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11827"/>
                </a:solidFill>
                <a:latin typeface="Calibri"/>
              </a:rPr>
              <a:t>Recognition is the outcome</a:t>
            </a:r>
          </a:p>
          <a:p>
            <a:pPr>
              <a:spcAft>
                <a:spcPts val="1300"/>
              </a:spcAft>
            </a:pPr>
            <a:r>
              <a:rPr sz="1450" b="0">
                <a:solidFill>
                  <a:srgbClr val="4B5563"/>
                </a:solidFill>
                <a:latin typeface="Calibri"/>
              </a:rPr>
              <a:t>Exams passed abroad are mapped to Ca' Foscari courses, graded, and then approved or rejected one by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C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8C1D2C"/>
                </a:solidFill>
                <a:latin typeface="Calibri"/>
              </a:rPr>
              <a:t>AUTHORISATION</a:t>
            </a:r>
          </a:p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  <a:latin typeface="Calibri"/>
              </a:rPr>
              <a:t>Roles and what each one reaches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645920"/>
          <a:ext cx="1063721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0741"/>
                <a:gridCol w="2514250"/>
                <a:gridCol w="6092223"/>
              </a:tblGrid>
              <a:tr h="822960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8C1D2C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 marL="118872" marT="54864" marB="54864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8C1D2C"/>
                          </a:solidFill>
                          <a:latin typeface="Calibri"/>
                        </a:rPr>
                        <a:t>Sees</a:t>
                      </a:r>
                    </a:p>
                  </a:txBody>
                  <a:tcPr anchor="ctr" marL="118872" marT="54864" marB="54864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8C1D2C"/>
                          </a:solidFill>
                          <a:latin typeface="Calibri"/>
                        </a:rPr>
                        <a:t>Does</a:t>
                      </a:r>
                    </a:p>
                  </a:txBody>
                  <a:tcPr anchor="ctr" marL="118872" marT="54864" marB="54864">
                    <a:solidFill>
                      <a:srgbClr val="F3F4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827"/>
                          </a:solidFill>
                          <a:latin typeface="Calibri"/>
                        </a:rPr>
                        <a:t>Student</a:t>
                      </a:r>
                    </a:p>
                  </a:txBody>
                  <a:tcPr anchor="ctr" marL="11887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827"/>
                          </a:solidFill>
                          <a:latin typeface="Calibri"/>
                        </a:rPr>
                        <a:t>Only their own applications</a:t>
                      </a:r>
                    </a:p>
                  </a:txBody>
                  <a:tcPr anchor="ctr" marL="11887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827"/>
                          </a:solidFill>
                          <a:latin typeface="Calibri"/>
                        </a:rPr>
                        <a:t>Creates and revises applications, proposes the exam mapping, uploads Learning Agreements and the transcript, enters grades</a:t>
                      </a:r>
                    </a:p>
                  </a:txBody>
                  <a:tcPr anchor="ctr" marL="118872" marT="54864" marB="54864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827"/>
                          </a:solidFill>
                          <a:latin typeface="Calibri"/>
                        </a:rPr>
                        <a:t>Academic coordinator</a:t>
                      </a:r>
                    </a:p>
                  </a:txBody>
                  <a:tcPr anchor="ctr" marL="11887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827"/>
                          </a:solidFill>
                          <a:latin typeface="Calibri"/>
                        </a:rPr>
                        <a:t>Only applications assigned to them</a:t>
                      </a:r>
                    </a:p>
                  </a:txBody>
                  <a:tcPr anchor="ctr" marL="11887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827"/>
                          </a:solidFill>
                          <a:latin typeface="Calibri"/>
                        </a:rPr>
                        <a:t>Reads the documents, approves or rejects each Learning Agreement version and each exam recognition, with date and motivation</a:t>
                      </a:r>
                    </a:p>
                  </a:txBody>
                  <a:tcPr anchor="ctr" marL="118872" marT="54864" marB="54864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827"/>
                          </a:solidFill>
                          <a:latin typeface="Calibri"/>
                        </a:rPr>
                        <a:t>Overseas office</a:t>
                      </a:r>
                    </a:p>
                  </a:txBody>
                  <a:tcPr anchor="ctr" marL="11887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827"/>
                          </a:solidFill>
                          <a:latin typeface="Calibri"/>
                        </a:rPr>
                        <a:t>Every application</a:t>
                      </a:r>
                    </a:p>
                  </a:txBody>
                  <a:tcPr anchor="ctr" marL="11887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827"/>
                          </a:solidFill>
                          <a:latin typeface="Calibri"/>
                        </a:rPr>
                        <a:t>Maintains the partner institutions, completes the pre-departure check, closes the application</a:t>
                      </a:r>
                    </a:p>
                  </a:txBody>
                  <a:tcPr anchor="ctr" marL="118872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257800"/>
            <a:ext cx="106372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Calibri"/>
              </a:rPr>
              <a:t>Role is checked by the endpoint; ownership is a filter inside the query — someone else's application is “not found”, never “forbidden”.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C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8C1D2C"/>
                </a:solidFill>
                <a:latin typeface="Calibri"/>
              </a:rPr>
              <a:t>WORKFLOW</a:t>
            </a:r>
          </a:p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  <a:latin typeface="Calibri"/>
              </a:rPr>
              <a:t>The application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94560"/>
            <a:ext cx="16002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created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87168" y="2423160"/>
            <a:ext cx="685800" cy="201168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50008" y="203911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Calibri"/>
              </a:rPr>
              <a:t>upload 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194560"/>
            <a:ext cx="1874519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waiting_la_</a:t>
            </a:r>
            <a:br/>
            <a:r>
              <a:rPr sz="1300" b="1">
                <a:solidFill>
                  <a:srgbClr val="111827"/>
                </a:solidFill>
                <a:latin typeface="Calibri"/>
              </a:rPr>
              <a:t>approval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85232" y="2423160"/>
            <a:ext cx="685800" cy="201168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8072" y="203911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Calibri"/>
              </a:rPr>
              <a:t>office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9456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pre_departure_</a:t>
            </a:r>
            <a:br/>
            <a:r>
              <a:rPr sz="1300" b="1">
                <a:solidFill>
                  <a:srgbClr val="111827"/>
                </a:solidFill>
                <a:latin typeface="Calibri"/>
              </a:rPr>
              <a:t>completed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65592" y="2423160"/>
            <a:ext cx="685800" cy="201168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03911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Calibri"/>
              </a:rPr>
              <a:t>arrival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194560"/>
            <a:ext cx="1920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mobility_in_</a:t>
            </a:r>
            <a:br/>
            <a:r>
              <a:rPr sz="1300" b="1">
                <a:solidFill>
                  <a:srgbClr val="111827"/>
                </a:solidFill>
                <a:latin typeface="Calibri"/>
              </a:rPr>
              <a:t>progress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3794760"/>
            <a:ext cx="192024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under_exam_</a:t>
            </a:r>
            <a:br/>
            <a:r>
              <a:rPr sz="1300" b="1">
                <a:solidFill>
                  <a:srgbClr val="111827"/>
                </a:solidFill>
                <a:latin typeface="Calibri"/>
              </a:rPr>
              <a:t>recognition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275320" y="4023360"/>
            <a:ext cx="566928" cy="201168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639312"/>
            <a:ext cx="8412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Calibri"/>
              </a:rPr>
              <a:t>office closes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794760"/>
            <a:ext cx="1737360" cy="65836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397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B5563"/>
                </a:solidFill>
                <a:latin typeface="Calibri"/>
              </a:rPr>
              <a:t>Transcript uploaded  →  recognition opens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4B5563"/>
                </a:solidFill>
                <a:latin typeface="Calibri"/>
              </a:rPr>
              <a:t>Learning Agreement rejected  →  back to created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4B5563"/>
                </a:solidFill>
                <a:latin typeface="Calibri"/>
              </a:rPr>
              <a:t>Modification approved mid-mobility  →  back to mobility_in_progress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0644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Calibri"/>
              </a:rPr>
              <a:t>One module owns every status change: it refuses moves outside the workflow and writes the history row in the same operation.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C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8C1D2C"/>
                </a:solidFill>
                <a:latin typeface="Calibri"/>
              </a:rPr>
              <a:t>DESIGN</a:t>
            </a:r>
          </a:p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  <a:latin typeface="Calibri"/>
              </a:rPr>
              <a:t>Conceptual schema</a:t>
            </a:r>
          </a:p>
        </p:txBody>
      </p:sp>
      <p:pic>
        <p:nvPicPr>
          <p:cNvPr id="4" name="Picture 3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234440"/>
            <a:ext cx="4346258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6002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8 entities</a:t>
            </a:r>
          </a:p>
          <a:p>
            <a:pPr>
              <a:spcAft>
                <a:spcPts val="1600"/>
              </a:spcAft>
            </a:pPr>
            <a:r>
              <a:rPr sz="1350" b="0">
                <a:solidFill>
                  <a:srgbClr val="4B5563"/>
                </a:solidFill>
                <a:latin typeface="Calibri"/>
              </a:rPr>
              <a:t>5 of them weak: the agreement versions, their mappings, the exam results, the transcript and the status history exist only as part of an application.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One USER entity</a:t>
            </a:r>
          </a:p>
          <a:p>
            <a:pPr>
              <a:spcAft>
                <a:spcPts val="1600"/>
              </a:spcAft>
            </a:pPr>
            <a:r>
              <a:rPr sz="1350" b="0">
                <a:solidFill>
                  <a:srgbClr val="4B5563"/>
                </a:solidFill>
                <a:latin typeface="Calibri"/>
              </a:rPr>
              <a:t>The three roles share every attribute and an application must point at exactly one student and one coordinator.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No “modification” entity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4B5563"/>
                </a:solidFill>
                <a:latin typeface="Calibri"/>
              </a:rPr>
              <a:t>A proposed change is simply the next Learning Agreement version, with its own mappings.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C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8C1D2C"/>
                </a:solidFill>
                <a:latin typeface="Calibri"/>
              </a:rPr>
              <a:t>DESIGN</a:t>
            </a:r>
          </a:p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  <a:latin typeface="Calibri"/>
              </a:rPr>
              <a:t>Logical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00200"/>
            <a:ext cx="10637215" cy="3977639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64592"/>
          <a:lstStyle/>
          <a:p>
            <a:pPr algn="ctr">
              <a:spcAft>
                <a:spcPts val="100"/>
              </a:spcAft>
            </a:pPr>
            <a:r>
              <a:rPr sz="1300">
                <a:solidFill>
                  <a:srgbClr val="111827"/>
                </a:solidFill>
                <a:latin typeface="Consolas"/>
              </a:rPr>
              <a:t>USER_ACCOUNT(user_id, email, password_hash, first_name, last_name, user_role)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11827"/>
                </a:solidFill>
                <a:latin typeface="Consolas"/>
              </a:rPr>
              <a:t>INSTITUTION(institution_id, name, country, city, contact_email, is_active)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11827"/>
                </a:solidFill>
                <a:latin typeface="Consolas"/>
              </a:rPr>
              <a:t>MOBILITY_APPLICATION(application_id, academic_year, optional_note,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11827"/>
                </a:solidFill>
                <a:latin typeface="Consolas"/>
              </a:rPr>
              <a:t>                     expected_mobility_period, status,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11827"/>
                </a:solidFill>
                <a:latin typeface="Consolas"/>
              </a:rPr>
              <a:t>                     actual_arrival_date, actual_departure_date,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11827"/>
                </a:solidFill>
                <a:latin typeface="Consolas"/>
              </a:rPr>
              <a:t>                     student_id, coordinator_id, host_institution_id)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11827"/>
                </a:solidFill>
                <a:latin typeface="Consolas"/>
              </a:rPr>
              <a:t>APPLICATION_STATUS_HISTORY(history_id, application_id, old_status,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11827"/>
                </a:solidFill>
                <a:latin typeface="Consolas"/>
              </a:rPr>
              <a:t>                           new_status, changed_at)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11827"/>
                </a:solidFill>
                <a:latin typeface="Consolas"/>
              </a:rPr>
              <a:t>LEARNING_AGREEMENT(application_id, version_number, file_path, uploaded_at,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11827"/>
                </a:solidFill>
                <a:latin typeface="Consolas"/>
              </a:rPr>
              <a:t>                   approval_status, decision_date, rejection_reason)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11827"/>
                </a:solidFill>
                <a:latin typeface="Consolas"/>
              </a:rPr>
              <a:t>COURSE_MAPPING(mapping_id, application_id, version_number,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11827"/>
                </a:solidFill>
                <a:latin typeface="Consolas"/>
              </a:rPr>
              <a:t>               foreign_course_*, home_course_*)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11827"/>
                </a:solidFill>
                <a:latin typeface="Consolas"/>
              </a:rPr>
              <a:t>TRANSCRIPT_OF_RECORDS(transcript_id, application_id, file_path, uploaded_at)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11827"/>
                </a:solidFill>
                <a:latin typeface="Consolas"/>
              </a:rPr>
              <a:t>EXAM_RESULT(result_id, mapping_id, foreign_grade, exam_date,</a:t>
            </a:r>
          </a:p>
          <a:p>
            <a:pPr>
              <a:spcAft>
                <a:spcPts val="100"/>
              </a:spcAft>
            </a:pPr>
            <a:r>
              <a:rPr sz="1300">
                <a:solidFill>
                  <a:srgbClr val="111827"/>
                </a:solidFill>
                <a:latin typeface="Consolas"/>
              </a:rPr>
              <a:t>            recognition_status, decision_date, rejection_reason)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760720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B5563"/>
                </a:solidFill>
                <a:latin typeface="Calibri"/>
              </a:rPr>
              <a:t>Composite key (application_id, version_number) makes version numbers unique by construction · unique application_id and mapping_id give the two 1:1 relationships · owned rows CASCADE, referenced rows RESTRICT.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C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8C1D2C"/>
                </a:solidFill>
                <a:latin typeface="Calibri"/>
              </a:rPr>
              <a:t>DATA INTEGRITY</a:t>
            </a:r>
          </a:p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  <a:latin typeface="Calibri"/>
              </a:rPr>
              <a:t>Where each rule is enforced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5257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8C1D2C"/>
                </a:solidFill>
                <a:latin typeface="Calibri"/>
              </a:rPr>
              <a:t>In the schema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11827"/>
                </a:solidFill>
                <a:latin typeface="Calibri"/>
              </a:rPr>
              <a:t>•  Enumerated types for every status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11827"/>
                </a:solidFill>
                <a:latin typeface="Calibri"/>
              </a:rPr>
              <a:t>•  Academic-year format, positive credits, date ordering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11827"/>
                </a:solidFill>
                <a:latin typeface="Calibri"/>
              </a:rPr>
              <a:t>•  Unique course pair per plan version, unique partner location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11827"/>
                </a:solidFill>
                <a:latin typeface="Calibri"/>
              </a:rPr>
              <a:t>•  Decision consistency: pending has no date or reason, approved has a date, rejected has a date and a reason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11827"/>
                </a:solidFill>
                <a:latin typeface="Calibri"/>
              </a:rPr>
              <a:t>•  CASCADE for owned rows, RESTRICT for users and institutions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8C1D2C"/>
                </a:solidFill>
                <a:latin typeface="Calibri"/>
              </a:rPr>
              <a:t>In the service layer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11827"/>
                </a:solidFill>
                <a:latin typeface="Calibri"/>
              </a:rPr>
              <a:t>•  Ownership scoping of every student and coordinator query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11827"/>
                </a:solidFill>
                <a:latin typeface="Calibri"/>
              </a:rPr>
              <a:t>•  Second academic year is the first plus one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11827"/>
                </a:solidFill>
                <a:latin typeface="Calibri"/>
              </a:rPr>
              <a:t>•  Mapping frozen while a version awaits a decision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11827"/>
                </a:solidFill>
                <a:latin typeface="Calibri"/>
              </a:rPr>
              <a:t>•  Pre-departure needs an approved agreement; closure needs every result decided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11827"/>
                </a:solidFill>
                <a:latin typeface="Calibri"/>
              </a:rPr>
              <a:t>•  Exam date inside the mobility period</a:t>
            </a:r>
          </a:p>
          <a:p>
            <a:pPr>
              <a:spcAft>
                <a:spcPts val="900"/>
              </a:spcAft>
            </a:pPr>
            <a:r>
              <a:rPr sz="1450" b="0">
                <a:solidFill>
                  <a:srgbClr val="111827"/>
                </a:solidFill>
                <a:latin typeface="Calibri"/>
              </a:rPr>
              <a:t>•  Status changes follow the permitted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10637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Calibri"/>
              </a:rPr>
              <a:t>One transaction per request: services flush, the request commits once — any response of 400 or worse rolls the whole request 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C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8C1D2C"/>
                </a:solidFill>
                <a:latin typeface="Calibri"/>
              </a:rPr>
              <a:t>MAIN QUERIES</a:t>
            </a:r>
          </a:p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  <a:latin typeface="Calibri"/>
              </a:rPr>
              <a:t>The query behind the recognition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637215" cy="35661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64592"/>
          <a:lstStyle/>
          <a:p>
            <a:pPr algn="ctr">
              <a:spcAft>
                <a:spcPts val="100"/>
              </a:spcAft>
            </a:pPr>
            <a:r>
              <a:rPr sz="1400">
                <a:solidFill>
                  <a:srgbClr val="111827"/>
                </a:solidFill>
                <a:latin typeface="Consolas"/>
              </a:rPr>
              <a:t>SELECT cm.mapping_id,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111827"/>
                </a:solidFill>
                <a:latin typeface="Consolas"/>
              </a:rPr>
              <a:t>       cm.foreign_course_code, cm.foreign_course_name, cm.foreign_course_credits,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111827"/>
                </a:solidFill>
                <a:latin typeface="Consolas"/>
              </a:rPr>
              <a:t>       cm.home_course_code,    cm.home_course_name,    cm.home_course_credits,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111827"/>
                </a:solidFill>
                <a:latin typeface="Consolas"/>
              </a:rPr>
              <a:t>       er.foreign_grade, er.exam_date, er.recognition_status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111827"/>
                </a:solidFill>
                <a:latin typeface="Consolas"/>
              </a:rPr>
              <a:t>FROM   course_mapping cm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111827"/>
                </a:solidFill>
                <a:latin typeface="Consolas"/>
              </a:rPr>
              <a:t>LEFT   JOIN exam_result er ON er.mapping_id = cm.mapping_id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111827"/>
                </a:solidFill>
                <a:latin typeface="Consolas"/>
              </a:rPr>
              <a:t>WHERE  cm.application_id = :application_id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111827"/>
                </a:solidFill>
                <a:latin typeface="Consolas"/>
              </a:rPr>
              <a:t>  AND  cm.version_number = (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111827"/>
                </a:solidFill>
                <a:latin typeface="Consolas"/>
              </a:rPr>
              <a:t>         SELECT MAX(version_number)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111827"/>
                </a:solidFill>
                <a:latin typeface="Consolas"/>
              </a:rPr>
              <a:t>         FROM   learning_agreement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111827"/>
                </a:solidFill>
                <a:latin typeface="Consolas"/>
              </a:rPr>
              <a:t>         WHERE  application_id  = :application_id</a:t>
            </a:r>
          </a:p>
          <a:p>
            <a:pPr>
              <a:spcAft>
                <a:spcPts val="100"/>
              </a:spcAft>
            </a:pPr>
            <a:r>
              <a:rPr sz="1400">
                <a:solidFill>
                  <a:srgbClr val="111827"/>
                </a:solidFill>
                <a:latin typeface="Consolas"/>
              </a:rPr>
              <a:t>           AND  approval_status = 'approved');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40680"/>
            <a:ext cx="106372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>
                <a:solidFill>
                  <a:srgbClr val="111827"/>
                </a:solidFill>
                <a:latin typeface="Calibri"/>
              </a:rPr>
              <a:t>The mapping in force is the one belonging to the highest approved version — which is exactly why an approved modification replaces the plan and a rejected one leaves it standing.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4B5563"/>
                </a:solidFill>
                <a:latin typeface="Calibri"/>
              </a:rPr>
              <a:t>Written with the SQLAlchemy Expression Language: no SQL string is hard-coded, so no dialect is either.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C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8C1D2C"/>
                </a:solidFill>
                <a:latin typeface="Calibri"/>
              </a:rPr>
              <a:t>DESIGN CHOICES</a:t>
            </a:r>
          </a:p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  <a:latin typeface="Calibri"/>
              </a:rPr>
              <a:t>Security and personal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372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Argon2id password hashing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4B5563"/>
                </a:solidFill>
                <a:latin typeface="Calibri"/>
              </a:rPr>
              <a:t>Only the encoded hash is stored; it carries its own salt and parameters, so there is no salt column, and verification never touches SQL.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Session cookie, HttpOnly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4B5563"/>
                </a:solidFill>
                <a:latin typeface="Calibri"/>
              </a:rPr>
              <a:t>Signed cookie, not readable by page scripts; SameSite and Secure are configurable for deployment behind HTTPS.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Authorisation inside the queries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4B5563"/>
                </a:solidFill>
                <a:latin typeface="Calibri"/>
              </a:rPr>
              <a:t>A student's lookup filters on their own id, a coordinator's on theirs — so another student's application is not found rather than forbidden, and its existence stays private.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11827"/>
                </a:solidFill>
                <a:latin typeface="Calibri"/>
              </a:rPr>
              <a:t>Documents follow the same path</a:t>
            </a:r>
          </a:p>
          <a:p>
            <a:pPr>
              <a:spcAft>
                <a:spcPts val="1300"/>
              </a:spcAft>
            </a:pPr>
            <a:r>
              <a:rPr sz="1350" b="0">
                <a:solidFill>
                  <a:srgbClr val="4B5563"/>
                </a:solidFill>
                <a:latin typeface="Calibri"/>
              </a:rPr>
              <a:t>Each role has its own download endpoint, which fetches the application through that role's scoped query before locating the file. A path never comes from the request.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C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8C1D2C"/>
                </a:solidFill>
                <a:latin typeface="Calibri"/>
              </a:rPr>
              <a:t>DESIGN CHOICES</a:t>
            </a:r>
          </a:p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  <a:latin typeface="Calibri"/>
              </a:rPr>
              <a:t>Documents: versions, not overwrites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2011680" cy="77724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397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v1  rejected</a:t>
            </a:r>
            <a:br/>
            <a:r>
              <a:rPr sz="1200" b="1">
                <a:solidFill>
                  <a:srgbClr val="111827"/>
                </a:solidFill>
                <a:latin typeface="Calibri"/>
              </a:rPr>
              <a:t>“credits do not match”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71800" y="2560320"/>
            <a:ext cx="640080" cy="201168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49039" y="2286000"/>
            <a:ext cx="201168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v2  approved</a:t>
            </a:r>
            <a:br/>
            <a:r>
              <a:rPr sz="1200" b="1">
                <a:solidFill>
                  <a:srgbClr val="111827"/>
                </a:solidFill>
                <a:latin typeface="Calibri"/>
              </a:rPr>
              <a:t>plan in force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97880" y="2560320"/>
            <a:ext cx="640080" cy="201168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0" y="2286000"/>
            <a:ext cx="2103120" cy="77724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397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v3  modification</a:t>
            </a:r>
            <a:br/>
            <a:r>
              <a:rPr sz="1200" b="1">
                <a:solidFill>
                  <a:srgbClr val="111827"/>
                </a:solidFill>
                <a:latin typeface="Calibri"/>
              </a:rPr>
              <a:t>pending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915400" y="2560320"/>
            <a:ext cx="640080" cy="201168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0" y="2286000"/>
            <a:ext cx="1737360" cy="77724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397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111827"/>
                </a:solidFill>
                <a:latin typeface="Calibri"/>
              </a:rPr>
              <a:t>rejected →</a:t>
            </a:r>
            <a:br/>
            <a:r>
              <a:rPr sz="1200" b="1">
                <a:solidFill>
                  <a:srgbClr val="111827"/>
                </a:solidFill>
                <a:latin typeface="Calibri"/>
              </a:rPr>
              <a:t>v2 still in force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1063721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Every version is kept, with its upload time, decision, decision date and motivation.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Only the file path is stored in the database; the binary stays on disk under a generated, collision-resistant name.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Mappings are validated before the file is written, so a refused upload leaves no orphan file.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•  Downloads are renamed to something meaningful: learning-agreement-v2.pdf.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C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8C1D2C"/>
                </a:solidFill>
                <a:latin typeface="Calibri"/>
              </a:rPr>
              <a:t>IMPLEMENTATION</a:t>
            </a:r>
          </a:p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  <a:latin typeface="Calibri"/>
              </a:rP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11827"/>
                </a:solidFill>
                <a:latin typeface="Calibri"/>
              </a:rPr>
              <a:t>Angular 22</a:t>
            </a:r>
            <a:br/>
            <a:r>
              <a:rPr sz="1400" b="1">
                <a:solidFill>
                  <a:srgbClr val="111827"/>
                </a:solidFill>
                <a:latin typeface="Calibri"/>
              </a:rPr>
              <a:t>single-page app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46120" y="2724912"/>
            <a:ext cx="777240" cy="201168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234086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Calibri"/>
              </a:rPr>
              <a:t>/api, cookie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3774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11827"/>
                </a:solidFill>
                <a:latin typeface="Calibri"/>
              </a:rPr>
              <a:t>Flask 3</a:t>
            </a:r>
            <a:br/>
            <a:r>
              <a:rPr sz="1400" b="1">
                <a:solidFill>
                  <a:srgbClr val="111827"/>
                </a:solidFill>
                <a:latin typeface="Calibri"/>
              </a:rPr>
              <a:t>routes · services</a:t>
            </a:r>
            <a:br/>
            <a:r>
              <a:rPr sz="1400" b="1">
                <a:solidFill>
                  <a:srgbClr val="111827"/>
                </a:solidFill>
                <a:latin typeface="Calibri"/>
              </a:rPr>
              <a:t>repositories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5120" y="2724912"/>
            <a:ext cx="777240" cy="201168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234086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4B5563"/>
                </a:solidFill>
                <a:latin typeface="Calibri"/>
              </a:rPr>
              <a:t>SQLAlchemy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37744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111827"/>
                </a:solidFill>
                <a:latin typeface="Calibri"/>
              </a:rPr>
              <a:t>PostgreSQL 16</a:t>
            </a:r>
            <a:br/>
            <a:r>
              <a:rPr sz="1400" b="1">
                <a:solidFill>
                  <a:srgbClr val="111827"/>
                </a:solidFill>
                <a:latin typeface="Calibri"/>
              </a:rPr>
              <a:t>constraints · enums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237744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397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uploads</a:t>
            </a:r>
            <a:br/>
            <a:r>
              <a:rPr sz="1300" b="1">
                <a:solidFill>
                  <a:srgbClr val="111827"/>
                </a:solidFill>
                <a:latin typeface="Calibri"/>
              </a:rPr>
              <a:t>on disk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39"/>
            <a:ext cx="1063721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Routes translate HTTP and nothing else · services own the domain rules · repositories own the queries and the ownership scoping · models own the schema.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Services raise domain errors with a stable code and know nothing about HTTP; one module maps each code to a status and a message.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Calibri"/>
              </a:rPr>
              <a:t>Alembic migrations version the schema with the code. Docker Compose brings up database, API and front end together.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C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8C1D2C"/>
                </a:solidFill>
                <a:latin typeface="Calibri"/>
              </a:rPr>
              <a:t>VERIFICATION</a:t>
            </a:r>
          </a:p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  <a:latin typeface="Calibri"/>
              </a:rPr>
              <a:t>Tests and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8C1D2C"/>
                </a:solidFill>
                <a:latin typeface="Calibri"/>
              </a:rPr>
              <a:t>Automated tests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The three role services, end to end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Routes and their authorisation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Database constraints, against a real PostgreSQL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Seed script, document downloads, app wiring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Each test runs in a transaction that is rolled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69164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8C1D2C"/>
                </a:solidFill>
                <a:latin typeface="Calibri"/>
              </a:rPr>
              <a:t>Live demonstration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Student creates an application and uploads a Learning Agreement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Coordinator rejects it with a motivation, student revises it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Office completes the pre-departure check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Student records arrival, proposes a modification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11827"/>
                </a:solidFill>
                <a:latin typeface="Calibri"/>
              </a:rPr>
              <a:t>•  Transcript, grades, recognition, 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52160"/>
            <a:ext cx="106372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4B5563"/>
                </a:solidFill>
                <a:latin typeface="Calibri"/>
              </a:rPr>
              <a:t>Five seeded accounts (two students, two coordinators, the office) and eight partner institutions, all sharing one development password.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C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372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8C1D2C"/>
                </a:solidFill>
                <a:latin typeface="Calibri"/>
              </a:rPr>
              <a:t>APPENDIX</a:t>
            </a:r>
          </a:p>
          <a:p>
            <a:pPr>
              <a:spcAft>
                <a:spcPts val="0"/>
              </a:spcAft>
            </a:pPr>
            <a:r>
              <a:rPr sz="3000" b="1">
                <a:solidFill>
                  <a:srgbClr val="111827"/>
                </a:solidFill>
                <a:latin typeface="Calibri"/>
              </a:rPr>
              <a:t>Contribution of each member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645920"/>
          <a:ext cx="1063721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303"/>
                <a:gridCol w="7977911"/>
              </a:tblGrid>
              <a:tr h="7772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8C1D2C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anchor="ctr" marL="118872" marT="54864" marB="54864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8C1D2C"/>
                          </a:solidFill>
                          <a:latin typeface="Calibri"/>
                        </a:rPr>
                        <a:t>Contribution</a:t>
                      </a:r>
                    </a:p>
                  </a:txBody>
                  <a:tcPr anchor="ctr" marL="118872" marT="54864" marB="54864">
                    <a:solidFill>
                      <a:srgbClr val="F3F4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Daren Akpinar</a:t>
                      </a:r>
                    </a:p>
                  </a:txBody>
                  <a:tcPr anchor="ctr" marL="11887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Database service structure, SQLAlchemy models, first migration, requirements and business rules, first drafts of the schema documents</a:t>
                      </a:r>
                    </a:p>
                  </a:txBody>
                  <a:tcPr anchor="ctr" marL="118872" marT="54864" marB="54864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Umar Akhmaev</a:t>
                      </a:r>
                    </a:p>
                  </a:txBody>
                  <a:tcPr anchor="ctr" marL="11887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Alembic setup and schema revision, integrity constraints, exam-result and status-history models, session authentication and role decorators, the API blueprints for all three roles, constraint tests</a:t>
                      </a:r>
                    </a:p>
                  </a:txBody>
                  <a:tcPr anchor="ctr" marL="118872" marT="54864" marB="54864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Mihail Skorenko</a:t>
                      </a:r>
                    </a:p>
                  </a:txBody>
                  <a:tcPr anchor="ctr" marL="11887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Repository and Docker setup, Angular front end, domain services and repositories, status workflow, document storage, transaction boundary, seed and test suite</a:t>
                      </a:r>
                    </a:p>
                  </a:txBody>
                  <a:tcPr anchor="ctr" marL="118872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93776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11827"/>
                </a:solidFill>
                <a:latin typeface="Calibri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